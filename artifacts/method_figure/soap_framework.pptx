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46634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" y="45720"/>
            <a:ext cx="12060936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20202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" y="45720"/>
            <a:ext cx="1206093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0202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" y="77724"/>
            <a:ext cx="12060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02020"/>
                </a:solidFill>
                <a:latin typeface="Times New Roman"/>
              </a:rPr>
              <a:t>Fitting Stage</a:t>
            </a:r>
            <a:r>
              <a:rPr sz="900" b="0" i="0">
                <a:solidFill>
                  <a:srgbClr val="666666"/>
                </a:solidFill>
                <a:latin typeface="Times New Roman"/>
              </a:rPr>
              <a:t>   (reference failures — unlabeled)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" y="402336"/>
            <a:ext cx="12984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0202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443484"/>
            <a:ext cx="11887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5B9BD5"/>
                </a:solidFill>
                <a:latin typeface="Times New Roman"/>
              </a:rPr>
              <a:t>❄</a:t>
            </a:r>
            <a:r>
              <a:rPr sz="700" b="0" i="0">
                <a:solidFill>
                  <a:srgbClr val="202020"/>
                </a:solidFill>
                <a:latin typeface="Times New Roman"/>
              </a:rPr>
              <a:t> Frozen (no training)</a:t>
            </a:r>
          </a:p>
          <a:p>
            <a:pPr algn="l"/>
            <a:r>
              <a:rPr sz="800" b="0" i="0">
                <a:solidFill>
                  <a:srgbClr val="666666"/>
                </a:solidFill>
                <a:latin typeface="Times New Roman"/>
              </a:rPr>
              <a:t>⊘</a:t>
            </a:r>
            <a:r>
              <a:rPr sz="700" b="0" i="0">
                <a:solidFill>
                  <a:srgbClr val="202020"/>
                </a:solidFill>
                <a:latin typeface="Times New Roman"/>
              </a:rPr>
              <a:t> no step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804672"/>
            <a:ext cx="1042415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859536"/>
            <a:ext cx="1042415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" y="914400"/>
            <a:ext cx="1042415" cy="786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024128"/>
            <a:ext cx="822960" cy="68580"/>
          </a:xfrm>
          <a:prstGeom prst="rect">
            <a:avLst/>
          </a:prstGeom>
          <a:solidFill>
            <a:srgbClr val="ADC6E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56716"/>
            <a:ext cx="822960" cy="68580"/>
          </a:xfrm>
          <a:prstGeom prst="rect">
            <a:avLst/>
          </a:prstGeom>
          <a:solidFill>
            <a:srgbClr val="B9D5B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289304"/>
            <a:ext cx="822960" cy="68580"/>
          </a:xfrm>
          <a:prstGeom prst="rect">
            <a:avLst/>
          </a:prstGeom>
          <a:solidFill>
            <a:srgbClr val="ADC6E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421892"/>
            <a:ext cx="822960" cy="68580"/>
          </a:xfrm>
          <a:prstGeom prst="rect">
            <a:avLst/>
          </a:prstGeom>
          <a:solidFill>
            <a:srgbClr val="E9D89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554480"/>
            <a:ext cx="822960" cy="68580"/>
          </a:xfrm>
          <a:prstGeom prst="rect">
            <a:avLst/>
          </a:prstGeom>
          <a:solidFill>
            <a:srgbClr val="B9D5B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" y="1755648"/>
            <a:ext cx="14081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  <a:latin typeface="Times New Roman"/>
              </a:rPr>
              <a:t>failure trajectories</a:t>
            </a:r>
          </a:p>
          <a:p>
            <a:pPr algn="ctr"/>
            <a:r>
              <a:rPr sz="700" b="0" i="0">
                <a:solidFill>
                  <a:srgbClr val="666666"/>
                </a:solidFill>
                <a:latin typeface="Times New Roman"/>
              </a:rPr>
              <a:t>(no labels, failures only)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463040" y="1170431"/>
            <a:ext cx="292608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rapezoid 16"/>
          <p:cNvSpPr/>
          <p:nvPr/>
        </p:nvSpPr>
        <p:spPr>
          <a:xfrm rot="5400000">
            <a:off x="1600200" y="850392"/>
            <a:ext cx="1188720" cy="822960"/>
          </a:xfrm>
          <a:prstGeom prst="trapezoid">
            <a:avLst>
              <a:gd name="adj" fmla="val 32000"/>
            </a:avLst>
          </a:prstGeom>
          <a:solidFill>
            <a:srgbClr val="DEE8F4"/>
          </a:solidFill>
          <a:ln w="11430">
            <a:solidFill>
              <a:srgbClr val="9DB6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10512" y="1060704"/>
            <a:ext cx="7680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02020"/>
                </a:solidFill>
                <a:latin typeface="Times New Roman"/>
              </a:rPr>
              <a:t>Proxy</a:t>
            </a:r>
          </a:p>
          <a:p>
            <a:pPr algn="ctr"/>
            <a:r>
              <a:rPr sz="1050" b="1" i="0">
                <a:solidFill>
                  <a:srgbClr val="202020"/>
                </a:solidFill>
                <a:latin typeface="Times New Roman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713232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  <a:latin typeface="Times New Roman"/>
              </a:rPr>
              <a:t>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51760" y="1170431"/>
            <a:ext cx="292608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99232" y="475488"/>
            <a:ext cx="1353312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AAAAAA"/>
            </a:solidFill>
            <a:prstDash val="dash"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548640"/>
            <a:ext cx="135331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  <a:latin typeface="Times New Roman"/>
              </a:rPr>
              <a:t>step vectors </a:t>
            </a:r>
            <a:r>
              <a:rPr sz="800" b="0" i="1">
                <a:solidFill>
                  <a:srgbClr val="202020"/>
                </a:solidFill>
                <a:latin typeface="Times New Roman"/>
              </a:rPr>
              <a:t>v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9836" y="768096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33572" y="768096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7308" y="768096"/>
            <a:ext cx="137160" cy="137160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81044" y="768096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54780" y="768096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59836" y="941832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33572" y="941832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07308" y="941832"/>
            <a:ext cx="137160" cy="137160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81044" y="941832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54780" y="941832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59836" y="1115568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33572" y="1115568"/>
            <a:ext cx="137160" cy="137160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07308" y="1115568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81044" y="1115568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54780" y="1115568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59836" y="1289304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33572" y="1289304"/>
            <a:ext cx="137160" cy="137160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07308" y="1289304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81044" y="1289304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54780" y="1289304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1408176"/>
            <a:ext cx="1353312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666666"/>
                </a:solidFill>
                <a:latin typeface="Times New Roman"/>
              </a:rPr>
              <a:t>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59836" y="1554480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33572" y="1554480"/>
            <a:ext cx="137160" cy="137160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07308" y="1554480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81044" y="1554480"/>
            <a:ext cx="137160" cy="137160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954780" y="1554480"/>
            <a:ext cx="137160" cy="137160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2" y="1755648"/>
            <a:ext cx="135331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Times New Roman"/>
              </a:rPr>
              <a:t>mean-pool each step;</a:t>
            </a:r>
          </a:p>
          <a:p>
            <a:pPr algn="ctr"/>
            <a:r>
              <a:rPr sz="700" b="0" i="0">
                <a:solidFill>
                  <a:srgbClr val="666666"/>
                </a:solidFill>
                <a:latin typeface="Times New Roman"/>
              </a:rPr>
              <a:t>stack all steps → </a:t>
            </a:r>
            <a:r>
              <a:rPr sz="700" b="0" i="1">
                <a:solidFill>
                  <a:srgbClr val="666666"/>
                </a:solidFill>
                <a:latin typeface="Times New Roman"/>
              </a:rPr>
              <a:t>R</a:t>
            </a:r>
            <a:r>
              <a:rPr sz="700" b="0" i="0">
                <a:solidFill>
                  <a:srgbClr val="666666"/>
                </a:solidFill>
                <a:latin typeface="Times New Roman"/>
              </a:rPr>
              <a:t> (N×5)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969264"/>
            <a:ext cx="365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666666"/>
                </a:solidFill>
                <a:latin typeface="Times New Roman"/>
              </a:rPr>
              <a:t>SVD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4389120" y="1170431"/>
            <a:ext cx="310896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754880" y="438912"/>
            <a:ext cx="3977639" cy="1591056"/>
          </a:xfrm>
          <a:prstGeom prst="rect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0" y="498348"/>
            <a:ext cx="397763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02020"/>
                </a:solidFill>
                <a:latin typeface="Times New Roman"/>
              </a:rPr>
              <a:t>SVD: keep a band of right-singular directions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47488" y="813816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70017" y="813816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92547" y="813816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5076" y="813816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37606" y="813816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47488" y="93634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70017" y="936345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92547" y="936345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15076" y="93634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37606" y="936345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47488" y="105887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70017" y="1058875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292547" y="1058875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15076" y="105887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37606" y="1058875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047488" y="118140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70017" y="1181404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292547" y="118140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15076" y="1181404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537606" y="118140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047488" y="1303934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70017" y="1303934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292547" y="130393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15076" y="1303934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537606" y="130393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47488" y="1426464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70017" y="1426464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292547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15076" y="1426464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537606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47488" y="1548993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70017" y="1548993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92547" y="1548993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415076" y="1548993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537606" y="1548993"/>
            <a:ext cx="100584" cy="100584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47488" y="1694383"/>
            <a:ext cx="59070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1">
                <a:solidFill>
                  <a:srgbClr val="202020"/>
                </a:solidFill>
                <a:latin typeface="Times New Roman"/>
              </a:rPr>
              <a:t>R</a:t>
            </a:r>
            <a:r>
              <a:rPr sz="600" b="0" i="0">
                <a:solidFill>
                  <a:srgbClr val="666666"/>
                </a:solidFill>
                <a:latin typeface="Times New Roman"/>
              </a:rPr>
              <a:t>  (N×5)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724144" y="1143000"/>
            <a:ext cx="2194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02020"/>
                </a:solidFill>
                <a:latin typeface="Times New Roman"/>
              </a:rPr>
              <a:t>≈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35040" y="813816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57569" y="813816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280099" y="813816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02628" y="813816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25158" y="813816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035040" y="93634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57569" y="93634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280099" y="936345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402628" y="93634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525158" y="936345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035040" y="1058875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57569" y="105887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80099" y="105887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402628" y="1058875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525158" y="1058875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035040" y="118140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57569" y="118140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280099" y="118140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02628" y="118140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525158" y="118140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035040" y="130393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157569" y="130393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280099" y="130393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402628" y="130393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25158" y="130393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035040" y="142646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157569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80099" y="142646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02628" y="1426464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25158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035040" y="1548993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157569" y="1548993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280099" y="1548993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402628" y="1548993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525158" y="1548993"/>
            <a:ext cx="100584" cy="100584"/>
          </a:xfrm>
          <a:prstGeom prst="rect">
            <a:avLst/>
          </a:prstGeom>
          <a:solidFill>
            <a:srgbClr val="DCDEE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035040" y="1694383"/>
            <a:ext cx="59070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202020"/>
                </a:solidFill>
                <a:latin typeface="Times New Roman"/>
              </a:rPr>
              <a:t>U</a:t>
            </a:r>
            <a:r>
              <a:rPr sz="600" b="0" i="0">
                <a:solidFill>
                  <a:srgbClr val="666666"/>
                </a:solidFill>
                <a:latin typeface="Times New Roman"/>
              </a:rPr>
              <a:t>  (N×5)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44284" y="922629"/>
            <a:ext cx="618134" cy="618134"/>
          </a:xfrm>
          <a:prstGeom prst="rect">
            <a:avLst/>
          </a:prstGeom>
          <a:noFill/>
          <a:ln w="762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858000" y="936345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980529" y="1058875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103059" y="1181404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225588" y="1303934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348118" y="1426464"/>
            <a:ext cx="100584" cy="100584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858000" y="1694383"/>
            <a:ext cx="59070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  <a:latin typeface="Times New Roman"/>
              </a:rPr>
              <a:t>Σ</a:t>
            </a:r>
            <a:r>
              <a:rPr sz="600" b="0" i="0">
                <a:solidFill>
                  <a:srgbClr val="666666"/>
                </a:solidFill>
                <a:latin typeface="Times New Roman"/>
              </a:rPr>
              <a:t>  (5×5)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680960" y="936345"/>
            <a:ext cx="100584" cy="10058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803489" y="936345"/>
            <a:ext cx="100584" cy="10058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926019" y="936345"/>
            <a:ext cx="100584" cy="10058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048548" y="936345"/>
            <a:ext cx="100584" cy="10058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171078" y="936345"/>
            <a:ext cx="100584" cy="10058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7680960" y="1058875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803489" y="1058875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926019" y="1058875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048548" y="1058875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171078" y="1058875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680960" y="1181404"/>
            <a:ext cx="100584" cy="100584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803489" y="1181404"/>
            <a:ext cx="100584" cy="100584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926019" y="1181404"/>
            <a:ext cx="100584" cy="100584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048548" y="1181404"/>
            <a:ext cx="100584" cy="100584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171078" y="1181404"/>
            <a:ext cx="100584" cy="100584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680960" y="1303934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803489" y="1303934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7926019" y="1303934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048548" y="1303934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171078" y="1303934"/>
            <a:ext cx="100584" cy="10058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680960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803489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7926019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048548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171078" y="1426464"/>
            <a:ext cx="100584" cy="100584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680960" y="1694383"/>
            <a:ext cx="59070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202020"/>
                </a:solidFill>
                <a:latin typeface="Times New Roman"/>
              </a:rPr>
              <a:t>V</a:t>
            </a:r>
            <a:r>
              <a:rPr sz="700" b="0" i="0" baseline="30000">
                <a:solidFill>
                  <a:srgbClr val="202020"/>
                </a:solidFill>
                <a:latin typeface="Times New Roman"/>
              </a:rPr>
              <a:t>⊤</a:t>
            </a:r>
            <a:r>
              <a:rPr sz="600" b="0" i="0">
                <a:solidFill>
                  <a:srgbClr val="666666"/>
                </a:solidFill>
                <a:latin typeface="Times New Roman"/>
              </a:rPr>
              <a:t>  (5×5)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644384" y="1031443"/>
            <a:ext cx="663854" cy="400507"/>
          </a:xfrm>
          <a:prstGeom prst="rect">
            <a:avLst/>
          </a:prstGeom>
          <a:noFill/>
          <a:ln w="15240">
            <a:solidFill>
              <a:srgbClr val="D96C2E"/>
            </a:solidFill>
            <a:prstDash val="dash"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059168" y="653796"/>
            <a:ext cx="13258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>
                <a:solidFill>
                  <a:srgbClr val="666666"/>
                </a:solidFill>
                <a:latin typeface="Times New Roman"/>
              </a:rPr>
              <a:t>row 0: </a:t>
            </a:r>
            <a:r>
              <a:rPr sz="650" b="0" i="1">
                <a:solidFill>
                  <a:srgbClr val="666666"/>
                </a:solidFill>
                <a:latin typeface="Times New Roman"/>
              </a:rPr>
              <a:t>u</a:t>
            </a:r>
            <a:r>
              <a:rPr sz="550" b="0" i="0" baseline="-25000">
                <a:solidFill>
                  <a:srgbClr val="666666"/>
                </a:solidFill>
                <a:latin typeface="Times New Roman"/>
              </a:rPr>
              <a:t>0</a:t>
            </a:r>
            <a:r>
              <a:rPr sz="650" b="0" i="0">
                <a:solidFill>
                  <a:srgbClr val="666666"/>
                </a:solidFill>
                <a:latin typeface="Times New Roman"/>
              </a:rPr>
              <a:t> ≈ mean — excluded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223760" y="1868119"/>
            <a:ext cx="15087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D96C2E"/>
                </a:solidFill>
                <a:latin typeface="Times New Roman"/>
              </a:rPr>
              <a:t>band </a:t>
            </a:r>
            <a:r>
              <a:rPr sz="800" b="1" i="1">
                <a:solidFill>
                  <a:srgbClr val="D96C2E"/>
                </a:solidFill>
                <a:latin typeface="Times New Roman"/>
              </a:rPr>
              <a:t>𝒞</a:t>
            </a:r>
            <a:r>
              <a:rPr sz="750" b="1" i="0">
                <a:solidFill>
                  <a:srgbClr val="D96C2E"/>
                </a:solidFill>
                <a:latin typeface="Times New Roman"/>
              </a:rPr>
              <a:t> = {</a:t>
            </a:r>
            <a:r>
              <a:rPr sz="750" b="1" i="1">
                <a:solidFill>
                  <a:srgbClr val="D96C2E"/>
                </a:solidFill>
                <a:latin typeface="Times New Roman"/>
              </a:rPr>
              <a:t>u</a:t>
            </a:r>
            <a:r>
              <a:rPr sz="600" b="1" i="0" baseline="-25000">
                <a:solidFill>
                  <a:srgbClr val="D96C2E"/>
                </a:solidFill>
                <a:latin typeface="Times New Roman"/>
              </a:rPr>
              <a:t>1</a:t>
            </a:r>
            <a:r>
              <a:rPr sz="750" b="1" i="0">
                <a:solidFill>
                  <a:srgbClr val="D96C2E"/>
                </a:solidFill>
                <a:latin typeface="Times New Roman"/>
              </a:rPr>
              <a:t>, </a:t>
            </a:r>
            <a:r>
              <a:rPr sz="750" b="1" i="1">
                <a:solidFill>
                  <a:srgbClr val="D96C2E"/>
                </a:solidFill>
                <a:latin typeface="Times New Roman"/>
              </a:rPr>
              <a:t>u</a:t>
            </a:r>
            <a:r>
              <a:rPr sz="600" b="1" i="0" baseline="-25000">
                <a:solidFill>
                  <a:srgbClr val="D96C2E"/>
                </a:solidFill>
                <a:latin typeface="Times New Roman"/>
              </a:rPr>
              <a:t>2</a:t>
            </a:r>
            <a:r>
              <a:rPr sz="750" b="1" i="0">
                <a:solidFill>
                  <a:srgbClr val="D96C2E"/>
                </a:solidFill>
                <a:latin typeface="Times New Roman"/>
              </a:rPr>
              <a:t>, </a:t>
            </a:r>
            <a:r>
              <a:rPr sz="750" b="1" i="1">
                <a:solidFill>
                  <a:srgbClr val="D96C2E"/>
                </a:solidFill>
                <a:latin typeface="Times New Roman"/>
              </a:rPr>
              <a:t>u</a:t>
            </a:r>
            <a:r>
              <a:rPr sz="600" b="1" i="0" baseline="-25000">
                <a:solidFill>
                  <a:srgbClr val="D96C2E"/>
                </a:solidFill>
                <a:latin typeface="Times New Roman"/>
              </a:rPr>
              <a:t>3</a:t>
            </a:r>
            <a:r>
              <a:rPr sz="750" b="1" i="0">
                <a:solidFill>
                  <a:srgbClr val="D96C2E"/>
                </a:solidFill>
                <a:latin typeface="Times New Roman"/>
              </a:rPr>
              <a:t>}</a:t>
            </a:r>
          </a:p>
        </p:txBody>
      </p:sp>
      <p:sp>
        <p:nvSpPr>
          <p:cNvPr id="163" name="Right Arrow 162"/>
          <p:cNvSpPr/>
          <p:nvPr/>
        </p:nvSpPr>
        <p:spPr>
          <a:xfrm>
            <a:off x="8796528" y="1170431"/>
            <a:ext cx="274320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125712" y="438912"/>
            <a:ext cx="2880360" cy="1591056"/>
          </a:xfrm>
          <a:prstGeom prst="rect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125712" y="502920"/>
            <a:ext cx="28803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02020"/>
                </a:solidFill>
                <a:latin typeface="Times New Roman"/>
              </a:rPr>
              <a:t>Decisive errors project smaller onto </a:t>
            </a:r>
            <a:r>
              <a:rPr sz="950" b="1" i="1">
                <a:solidFill>
                  <a:srgbClr val="202020"/>
                </a:solidFill>
                <a:latin typeface="Times New Roman"/>
              </a:rPr>
              <a:t>𝒞</a:t>
            </a:r>
          </a:p>
        </p:txBody>
      </p:sp>
      <p:sp>
        <p:nvSpPr>
          <p:cNvPr id="166" name="Freeform 165"/>
          <p:cNvSpPr/>
          <p:nvPr/>
        </p:nvSpPr>
        <p:spPr>
          <a:xfrm>
            <a:off x="9326880" y="1042693"/>
            <a:ext cx="1737360" cy="603227"/>
          </a:xfrm>
          <a:custGeom>
            <a:avLst/>
            <a:gdLst/>
            <a:ahLst/>
            <a:cxnLst/>
            <a:rect l="l" t="t" r="r" b="b"/>
            <a:pathLst>
              <a:path w="1737360" h="603227">
                <a:moveTo>
                  <a:pt x="0" y="603227"/>
                </a:moveTo>
                <a:lnTo>
                  <a:pt x="0" y="563560"/>
                </a:lnTo>
                <a:lnTo>
                  <a:pt x="39485" y="548299"/>
                </a:lnTo>
                <a:lnTo>
                  <a:pt x="78971" y="528726"/>
                </a:lnTo>
                <a:lnTo>
                  <a:pt x="118456" y="504251"/>
                </a:lnTo>
                <a:lnTo>
                  <a:pt x="157942" y="474433"/>
                </a:lnTo>
                <a:lnTo>
                  <a:pt x="197427" y="439067"/>
                </a:lnTo>
                <a:lnTo>
                  <a:pt x="236913" y="398281"/>
                </a:lnTo>
                <a:lnTo>
                  <a:pt x="276398" y="352607"/>
                </a:lnTo>
                <a:lnTo>
                  <a:pt x="315884" y="303040"/>
                </a:lnTo>
                <a:lnTo>
                  <a:pt x="355369" y="251042"/>
                </a:lnTo>
                <a:lnTo>
                  <a:pt x="394855" y="198510"/>
                </a:lnTo>
                <a:lnTo>
                  <a:pt x="434340" y="147678"/>
                </a:lnTo>
                <a:lnTo>
                  <a:pt x="473825" y="100977"/>
                </a:lnTo>
                <a:lnTo>
                  <a:pt x="513311" y="60843"/>
                </a:lnTo>
                <a:lnTo>
                  <a:pt x="552796" y="29512"/>
                </a:lnTo>
                <a:lnTo>
                  <a:pt x="592282" y="8815"/>
                </a:lnTo>
                <a:lnTo>
                  <a:pt x="631767" y="0"/>
                </a:lnTo>
                <a:lnTo>
                  <a:pt x="671253" y="3607"/>
                </a:lnTo>
                <a:lnTo>
                  <a:pt x="710738" y="19414"/>
                </a:lnTo>
                <a:lnTo>
                  <a:pt x="750224" y="46461"/>
                </a:lnTo>
                <a:lnTo>
                  <a:pt x="789709" y="83142"/>
                </a:lnTo>
                <a:lnTo>
                  <a:pt x="829195" y="127368"/>
                </a:lnTo>
                <a:lnTo>
                  <a:pt x="868680" y="176762"/>
                </a:lnTo>
                <a:lnTo>
                  <a:pt x="908165" y="228866"/>
                </a:lnTo>
                <a:lnTo>
                  <a:pt x="947651" y="281342"/>
                </a:lnTo>
                <a:lnTo>
                  <a:pt x="987136" y="332138"/>
                </a:lnTo>
                <a:lnTo>
                  <a:pt x="1026622" y="379599"/>
                </a:lnTo>
                <a:lnTo>
                  <a:pt x="1066107" y="422534"/>
                </a:lnTo>
                <a:lnTo>
                  <a:pt x="1105593" y="460219"/>
                </a:lnTo>
                <a:lnTo>
                  <a:pt x="1145078" y="492366"/>
                </a:lnTo>
                <a:lnTo>
                  <a:pt x="1184564" y="519048"/>
                </a:lnTo>
                <a:lnTo>
                  <a:pt x="1224049" y="540620"/>
                </a:lnTo>
                <a:lnTo>
                  <a:pt x="1263535" y="557618"/>
                </a:lnTo>
                <a:lnTo>
                  <a:pt x="1303020" y="570682"/>
                </a:lnTo>
                <a:lnTo>
                  <a:pt x="1342505" y="580481"/>
                </a:lnTo>
                <a:lnTo>
                  <a:pt x="1381991" y="587655"/>
                </a:lnTo>
                <a:lnTo>
                  <a:pt x="1421476" y="592785"/>
                </a:lnTo>
                <a:lnTo>
                  <a:pt x="1460962" y="596369"/>
                </a:lnTo>
                <a:lnTo>
                  <a:pt x="1500447" y="598815"/>
                </a:lnTo>
                <a:lnTo>
                  <a:pt x="1539933" y="600447"/>
                </a:lnTo>
                <a:lnTo>
                  <a:pt x="1579418" y="601511"/>
                </a:lnTo>
                <a:lnTo>
                  <a:pt x="1618904" y="602190"/>
                </a:lnTo>
                <a:lnTo>
                  <a:pt x="1658389" y="602613"/>
                </a:lnTo>
                <a:lnTo>
                  <a:pt x="1697875" y="602871"/>
                </a:lnTo>
                <a:lnTo>
                  <a:pt x="1737360" y="603025"/>
                </a:lnTo>
                <a:lnTo>
                  <a:pt x="1737360" y="603227"/>
                </a:lnTo>
                <a:close/>
              </a:path>
            </a:pathLst>
          </a:custGeom>
          <a:solidFill>
            <a:srgbClr val="F0A072">
              <a:alpha val="42000"/>
            </a:srgbClr>
          </a:solidFill>
          <a:ln w="15240">
            <a:solidFill>
              <a:srgbClr val="D96C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10058400" y="951579"/>
            <a:ext cx="1810512" cy="694341"/>
          </a:xfrm>
          <a:custGeom>
            <a:avLst/>
            <a:gdLst/>
            <a:ahLst/>
            <a:cxnLst/>
            <a:rect l="l" t="t" r="r" b="b"/>
            <a:pathLst>
              <a:path w="1810512" h="694341">
                <a:moveTo>
                  <a:pt x="0" y="694341"/>
                </a:moveTo>
                <a:lnTo>
                  <a:pt x="0" y="684463"/>
                </a:lnTo>
                <a:lnTo>
                  <a:pt x="41148" y="680228"/>
                </a:lnTo>
                <a:lnTo>
                  <a:pt x="82296" y="674490"/>
                </a:lnTo>
                <a:lnTo>
                  <a:pt x="123444" y="666852"/>
                </a:lnTo>
                <a:lnTo>
                  <a:pt x="164592" y="656865"/>
                </a:lnTo>
                <a:lnTo>
                  <a:pt x="205740" y="644043"/>
                </a:lnTo>
                <a:lnTo>
                  <a:pt x="246888" y="627880"/>
                </a:lnTo>
                <a:lnTo>
                  <a:pt x="288036" y="607885"/>
                </a:lnTo>
                <a:lnTo>
                  <a:pt x="329184" y="583619"/>
                </a:lnTo>
                <a:lnTo>
                  <a:pt x="370332" y="554739"/>
                </a:lnTo>
                <a:lnTo>
                  <a:pt x="411480" y="521055"/>
                </a:lnTo>
                <a:lnTo>
                  <a:pt x="452628" y="482579"/>
                </a:lnTo>
                <a:lnTo>
                  <a:pt x="493776" y="439572"/>
                </a:lnTo>
                <a:lnTo>
                  <a:pt x="534924" y="392582"/>
                </a:lnTo>
                <a:lnTo>
                  <a:pt x="576072" y="342466"/>
                </a:lnTo>
                <a:lnTo>
                  <a:pt x="617220" y="290389"/>
                </a:lnTo>
                <a:lnTo>
                  <a:pt x="658368" y="237794"/>
                </a:lnTo>
                <a:lnTo>
                  <a:pt x="699516" y="186350"/>
                </a:lnTo>
                <a:lnTo>
                  <a:pt x="740664" y="137873"/>
                </a:lnTo>
                <a:lnTo>
                  <a:pt x="781812" y="94221"/>
                </a:lnTo>
                <a:lnTo>
                  <a:pt x="822960" y="57178"/>
                </a:lnTo>
                <a:lnTo>
                  <a:pt x="864108" y="28336"/>
                </a:lnTo>
                <a:lnTo>
                  <a:pt x="905256" y="8982"/>
                </a:lnTo>
                <a:lnTo>
                  <a:pt x="946404" y="0"/>
                </a:lnTo>
                <a:lnTo>
                  <a:pt x="987552" y="1806"/>
                </a:lnTo>
                <a:lnTo>
                  <a:pt x="1028700" y="14316"/>
                </a:lnTo>
                <a:lnTo>
                  <a:pt x="1069848" y="36952"/>
                </a:lnTo>
                <a:lnTo>
                  <a:pt x="1110996" y="68688"/>
                </a:lnTo>
                <a:lnTo>
                  <a:pt x="1152144" y="108123"/>
                </a:lnTo>
                <a:lnTo>
                  <a:pt x="1193292" y="153588"/>
                </a:lnTo>
                <a:lnTo>
                  <a:pt x="1234440" y="203260"/>
                </a:lnTo>
                <a:lnTo>
                  <a:pt x="1275588" y="255284"/>
                </a:lnTo>
                <a:lnTo>
                  <a:pt x="1316736" y="307882"/>
                </a:lnTo>
                <a:lnTo>
                  <a:pt x="1357884" y="359453"/>
                </a:lnTo>
                <a:lnTo>
                  <a:pt x="1399032" y="408641"/>
                </a:lnTo>
                <a:lnTo>
                  <a:pt x="1440180" y="454383"/>
                </a:lnTo>
                <a:lnTo>
                  <a:pt x="1481328" y="495926"/>
                </a:lnTo>
                <a:lnTo>
                  <a:pt x="1522476" y="532821"/>
                </a:lnTo>
                <a:lnTo>
                  <a:pt x="1563624" y="564893"/>
                </a:lnTo>
                <a:lnTo>
                  <a:pt x="1604772" y="592206"/>
                </a:lnTo>
                <a:lnTo>
                  <a:pt x="1645920" y="615005"/>
                </a:lnTo>
                <a:lnTo>
                  <a:pt x="1687068" y="633670"/>
                </a:lnTo>
                <a:lnTo>
                  <a:pt x="1728216" y="648663"/>
                </a:lnTo>
                <a:lnTo>
                  <a:pt x="1769364" y="660485"/>
                </a:lnTo>
                <a:lnTo>
                  <a:pt x="1810512" y="669636"/>
                </a:lnTo>
                <a:lnTo>
                  <a:pt x="1810512" y="694341"/>
                </a:lnTo>
                <a:close/>
              </a:path>
            </a:pathLst>
          </a:custGeom>
          <a:solidFill>
            <a:srgbClr val="8B90C6">
              <a:alpha val="42000"/>
            </a:srgbClr>
          </a:solidFill>
          <a:ln w="15240">
            <a:solidFill>
              <a:srgbClr val="5A5F9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>
            <a:off x="9272016" y="1645920"/>
            <a:ext cx="2633472" cy="0"/>
          </a:xfrm>
          <a:prstGeom prst="line">
            <a:avLst/>
          </a:prstGeom>
          <a:ln w="11430">
            <a:solidFill>
              <a:srgbClr val="AAAAAA"/>
            </a:solidFill>
            <a:tailEnd type="triangle" w="med" len="med"/>
          </a:ln>
          <a:effectLst/>
        </p:spPr>
      </p:cxnSp>
      <p:sp>
        <p:nvSpPr>
          <p:cNvPr id="169" name="Oval 168"/>
          <p:cNvSpPr/>
          <p:nvPr/>
        </p:nvSpPr>
        <p:spPr>
          <a:xfrm>
            <a:off x="9464040" y="1618488"/>
            <a:ext cx="54864" cy="54864"/>
          </a:xfrm>
          <a:prstGeom prst="ellipse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9683496" y="1618488"/>
            <a:ext cx="54864" cy="54864"/>
          </a:xfrm>
          <a:prstGeom prst="ellipse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9921240" y="1618488"/>
            <a:ext cx="54864" cy="54864"/>
          </a:xfrm>
          <a:prstGeom prst="ellipse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140696" y="1618488"/>
            <a:ext cx="54864" cy="54864"/>
          </a:xfrm>
          <a:prstGeom prst="ellipse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488168" y="1618488"/>
            <a:ext cx="54864" cy="54864"/>
          </a:xfrm>
          <a:prstGeom prst="ellipse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323576" y="1618488"/>
            <a:ext cx="54864" cy="54864"/>
          </a:xfrm>
          <a:prstGeom prst="ellipse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634472" y="1618488"/>
            <a:ext cx="54864" cy="54864"/>
          </a:xfrm>
          <a:prstGeom prst="ellipse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0872216" y="1618488"/>
            <a:ext cx="54864" cy="54864"/>
          </a:xfrm>
          <a:prstGeom prst="ellipse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082528" y="1618488"/>
            <a:ext cx="54864" cy="54864"/>
          </a:xfrm>
          <a:prstGeom prst="ellipse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311128" y="1618488"/>
            <a:ext cx="54864" cy="54864"/>
          </a:xfrm>
          <a:prstGeom prst="ellipse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539728" y="1618488"/>
            <a:ext cx="54864" cy="54864"/>
          </a:xfrm>
          <a:prstGeom prst="ellipse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9235440" y="731520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D96C2E"/>
                </a:solidFill>
                <a:latin typeface="Times New Roman"/>
              </a:rPr>
              <a:t>decisive</a:t>
            </a:r>
          </a:p>
          <a:p>
            <a:pPr algn="ctr"/>
            <a:r>
              <a:rPr sz="800" b="1" i="0">
                <a:solidFill>
                  <a:srgbClr val="D96C2E"/>
                </a:solidFill>
                <a:latin typeface="Times New Roman"/>
              </a:rPr>
              <a:t>errors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442448" y="786384"/>
            <a:ext cx="11887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5A5F9E"/>
                </a:solidFill>
                <a:latin typeface="Times New Roman"/>
              </a:rPr>
              <a:t>typical steps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9125712" y="1737360"/>
            <a:ext cx="27889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666666"/>
                </a:solidFill>
                <a:latin typeface="Times New Roman"/>
              </a:rPr>
              <a:t>projection π</a:t>
            </a:r>
            <a:r>
              <a:rPr sz="650" b="0" i="1" baseline="-25000">
                <a:solidFill>
                  <a:srgbClr val="666666"/>
                </a:solidFill>
                <a:latin typeface="Times New Roman"/>
              </a:rPr>
              <a:t>𝒞</a:t>
            </a:r>
            <a:r>
              <a:rPr sz="700" b="0" i="1">
                <a:solidFill>
                  <a:srgbClr val="666666"/>
                </a:solidFill>
                <a:latin typeface="Times New Roman"/>
              </a:rPr>
              <a:t>(v</a:t>
            </a:r>
            <a:r>
              <a:rPr sz="600" b="0" i="1" baseline="-25000">
                <a:solidFill>
                  <a:srgbClr val="666666"/>
                </a:solidFill>
                <a:latin typeface="Times New Roman"/>
              </a:rPr>
              <a:t>t</a:t>
            </a:r>
            <a:r>
              <a:rPr sz="700" b="0" i="0">
                <a:solidFill>
                  <a:srgbClr val="666666"/>
                </a:solidFill>
                <a:latin typeface="Times New Roman"/>
              </a:rPr>
              <a:t>) onto the band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4008" y="2194560"/>
            <a:ext cx="12060936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20202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4008" y="2194560"/>
            <a:ext cx="1206093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02020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4008" y="2226564"/>
            <a:ext cx="12060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02020"/>
                </a:solidFill>
                <a:latin typeface="Times New Roman"/>
              </a:rPr>
              <a:t>Localization Stage</a:t>
            </a:r>
            <a:r>
              <a:rPr sz="900" b="0" i="0">
                <a:solidFill>
                  <a:srgbClr val="666666"/>
                </a:solidFill>
                <a:latin typeface="Times New Roman"/>
              </a:rPr>
              <a:t>   (one failed trajectory — within-trajectory argmax)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64592" y="2542032"/>
            <a:ext cx="1481328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AAAAAA"/>
            </a:solidFill>
            <a:prstDash val="dash"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64592" y="2578608"/>
            <a:ext cx="14813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02020"/>
                </a:solidFill>
                <a:latin typeface="Times New Roman"/>
              </a:rPr>
              <a:t>failed trajectory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10896" y="2770632"/>
            <a:ext cx="1060704" cy="219456"/>
          </a:xfrm>
          <a:prstGeom prst="roundRect">
            <a:avLst>
              <a:gd name="adj" fmla="val 25000"/>
            </a:avLst>
          </a:prstGeom>
          <a:solidFill>
            <a:srgbClr val="ADC6E3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10896" y="28072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202020"/>
                </a:solidFill>
                <a:latin typeface="Times New Roman"/>
              </a:rPr>
              <a:t>s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1</a:t>
            </a:r>
            <a:r>
              <a:rPr sz="750" b="0" i="0">
                <a:solidFill>
                  <a:srgbClr val="3E648E"/>
                </a:solidFill>
                <a:latin typeface="Times New Roman"/>
              </a:rPr>
              <a:t>  ·  Agent A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310896" y="3033064"/>
            <a:ext cx="1060704" cy="219456"/>
          </a:xfrm>
          <a:prstGeom prst="roundRect">
            <a:avLst>
              <a:gd name="adj" fmla="val 25000"/>
            </a:avLst>
          </a:prstGeom>
          <a:solidFill>
            <a:srgbClr val="B9D5B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10896" y="30696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202020"/>
                </a:solidFill>
                <a:latin typeface="Times New Roman"/>
              </a:rPr>
              <a:t>s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2</a:t>
            </a:r>
            <a:r>
              <a:rPr sz="750" b="0" i="0">
                <a:solidFill>
                  <a:srgbClr val="507A47"/>
                </a:solidFill>
                <a:latin typeface="Times New Roman"/>
              </a:rPr>
              <a:t>  ·  Agent B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310896" y="3295497"/>
            <a:ext cx="1060704" cy="219456"/>
          </a:xfrm>
          <a:prstGeom prst="roundRect">
            <a:avLst>
              <a:gd name="adj" fmla="val 25000"/>
            </a:avLst>
          </a:prstGeom>
          <a:solidFill>
            <a:srgbClr val="ADC6E3"/>
          </a:solidFill>
          <a:ln w="20320">
            <a:solidFill>
              <a:srgbClr val="D96C2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10896" y="333207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202020"/>
                </a:solidFill>
                <a:latin typeface="Times New Roman"/>
              </a:rPr>
              <a:t>s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3</a:t>
            </a:r>
            <a:r>
              <a:rPr sz="750" b="0" i="0">
                <a:solidFill>
                  <a:srgbClr val="3E648E"/>
                </a:solidFill>
                <a:latin typeface="Times New Roman"/>
              </a:rPr>
              <a:t>  ·  Agent A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399032" y="3309213"/>
            <a:ext cx="274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1">
                <a:solidFill>
                  <a:srgbClr val="D96C2E"/>
                </a:solidFill>
                <a:latin typeface="Times New Roman"/>
              </a:rPr>
              <a:t>t</a:t>
            </a:r>
            <a:r>
              <a:rPr sz="800" b="1" i="0" baseline="30000">
                <a:solidFill>
                  <a:srgbClr val="D96C2E"/>
                </a:solidFill>
                <a:latin typeface="Times New Roman"/>
              </a:rPr>
              <a:t>*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310896" y="3557930"/>
            <a:ext cx="1060704" cy="219456"/>
          </a:xfrm>
          <a:prstGeom prst="roundRect">
            <a:avLst>
              <a:gd name="adj" fmla="val 25000"/>
            </a:avLst>
          </a:prstGeom>
          <a:solidFill>
            <a:srgbClr val="E9D89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10896" y="359450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202020"/>
                </a:solidFill>
                <a:latin typeface="Times New Roman"/>
              </a:rPr>
              <a:t>s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4</a:t>
            </a:r>
            <a:r>
              <a:rPr sz="750" b="0" i="0">
                <a:solidFill>
                  <a:srgbClr val="8F7522"/>
                </a:solidFill>
                <a:latin typeface="Times New Roman"/>
              </a:rPr>
              <a:t>  ·  Agent C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310896" y="3820363"/>
            <a:ext cx="1060704" cy="219456"/>
          </a:xfrm>
          <a:prstGeom prst="roundRect">
            <a:avLst>
              <a:gd name="adj" fmla="val 25000"/>
            </a:avLst>
          </a:prstGeom>
          <a:solidFill>
            <a:srgbClr val="B9D5B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10896" y="3856939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202020"/>
                </a:solidFill>
                <a:latin typeface="Times New Roman"/>
              </a:rPr>
              <a:t>s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5</a:t>
            </a:r>
            <a:r>
              <a:rPr sz="750" b="0" i="0">
                <a:solidFill>
                  <a:srgbClr val="507A47"/>
                </a:solidFill>
                <a:latin typeface="Times New Roman"/>
              </a:rPr>
              <a:t>  ·  Agent B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310896" y="4082796"/>
            <a:ext cx="1060704" cy="219456"/>
          </a:xfrm>
          <a:prstGeom prst="roundRect">
            <a:avLst>
              <a:gd name="adj" fmla="val 25000"/>
            </a:avLst>
          </a:prstGeom>
          <a:solidFill>
            <a:srgbClr val="E9D89F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310896" y="411937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202020"/>
                </a:solidFill>
                <a:latin typeface="Times New Roman"/>
              </a:rPr>
              <a:t>s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6</a:t>
            </a:r>
            <a:r>
              <a:rPr sz="750" b="0" i="0">
                <a:solidFill>
                  <a:srgbClr val="8F7522"/>
                </a:solidFill>
                <a:latin typeface="Times New Roman"/>
              </a:rPr>
              <a:t>  ·  Agent C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64592" y="433882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03A2B"/>
                </a:solidFill>
                <a:latin typeface="Times New Roman"/>
              </a:rPr>
              <a:t>✗ task fails</a:t>
            </a:r>
          </a:p>
        </p:txBody>
      </p:sp>
      <p:sp>
        <p:nvSpPr>
          <p:cNvPr id="202" name="Right Arrow 201"/>
          <p:cNvSpPr/>
          <p:nvPr/>
        </p:nvSpPr>
        <p:spPr>
          <a:xfrm>
            <a:off x="1700784" y="3438144"/>
            <a:ext cx="256032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rapezoid 202"/>
          <p:cNvSpPr/>
          <p:nvPr/>
        </p:nvSpPr>
        <p:spPr>
          <a:xfrm rot="5400000">
            <a:off x="1655064" y="3127248"/>
            <a:ext cx="1188720" cy="804672"/>
          </a:xfrm>
          <a:prstGeom prst="trapezoid">
            <a:avLst>
              <a:gd name="adj" fmla="val 32000"/>
            </a:avLst>
          </a:prstGeom>
          <a:solidFill>
            <a:srgbClr val="DEE8F4"/>
          </a:solidFill>
          <a:ln w="11430">
            <a:solidFill>
              <a:srgbClr val="9DB6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874519" y="3328415"/>
            <a:ext cx="7498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02020"/>
                </a:solidFill>
                <a:latin typeface="Times New Roman"/>
              </a:rPr>
              <a:t>Proxy</a:t>
            </a:r>
          </a:p>
          <a:p>
            <a:pPr algn="ctr"/>
            <a:r>
              <a:rPr sz="1050" b="1" i="0">
                <a:solidFill>
                  <a:srgbClr val="202020"/>
                </a:solidFill>
                <a:latin typeface="Times New Roman"/>
              </a:rPr>
              <a:t>LLM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112264" y="3054096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B9BD5"/>
                </a:solidFill>
                <a:latin typeface="Times New Roman"/>
              </a:rPr>
              <a:t>❄</a:t>
            </a:r>
          </a:p>
        </p:txBody>
      </p:sp>
      <p:cxnSp>
        <p:nvCxnSpPr>
          <p:cNvPr id="206" name="Connector 205"/>
          <p:cNvCxnSpPr/>
          <p:nvPr/>
        </p:nvCxnSpPr>
        <p:spPr>
          <a:xfrm flipV="1">
            <a:off x="2688336" y="3054096"/>
            <a:ext cx="256032" cy="365760"/>
          </a:xfrm>
          <a:prstGeom prst="line">
            <a:avLst/>
          </a:prstGeom>
          <a:ln w="30480">
            <a:solidFill>
              <a:srgbClr val="BDBDBD"/>
            </a:solidFill>
            <a:tailEnd type="triangle" w="med" len="med"/>
          </a:ln>
          <a:effectLst/>
        </p:spPr>
      </p:cxnSp>
      <p:cxnSp>
        <p:nvCxnSpPr>
          <p:cNvPr id="207" name="Connector 206"/>
          <p:cNvCxnSpPr/>
          <p:nvPr/>
        </p:nvCxnSpPr>
        <p:spPr>
          <a:xfrm>
            <a:off x="2688336" y="3639312"/>
            <a:ext cx="256032" cy="393192"/>
          </a:xfrm>
          <a:prstGeom prst="line">
            <a:avLst/>
          </a:prstGeom>
          <a:ln w="30480">
            <a:solidFill>
              <a:srgbClr val="BDBDBD"/>
            </a:solidFill>
            <a:tailEnd type="triangle" w="med" len="med"/>
          </a:ln>
          <a:effectLst/>
        </p:spPr>
      </p:cxnSp>
      <p:sp>
        <p:nvSpPr>
          <p:cNvPr id="208" name="Rounded Rectangle 207"/>
          <p:cNvSpPr/>
          <p:nvPr/>
        </p:nvSpPr>
        <p:spPr>
          <a:xfrm>
            <a:off x="2999232" y="2542032"/>
            <a:ext cx="1371600" cy="19751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AAAAAA"/>
            </a:solidFill>
            <a:prstDash val="dash"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999232" y="2596896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  <a:latin typeface="Times New Roman"/>
              </a:rPr>
              <a:t>step vectors </a:t>
            </a:r>
            <a:r>
              <a:rPr sz="800" b="0" i="1">
                <a:solidFill>
                  <a:srgbClr val="202020"/>
                </a:solidFill>
                <a:latin typeface="Times New Roman"/>
              </a:rPr>
              <a:t>v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t</a:t>
            </a:r>
            <a:r>
              <a:rPr sz="650" b="0" i="0">
                <a:solidFill>
                  <a:srgbClr val="666666"/>
                </a:solidFill>
                <a:latin typeface="Times New Roman"/>
              </a:rPr>
              <a:t>  (6×5)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367277" y="2779776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499865" y="2779776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632453" y="2779776"/>
            <a:ext cx="105156" cy="105156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765041" y="2779776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3897629" y="2779776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3367277" y="2912364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3499865" y="2912364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3632453" y="2912364"/>
            <a:ext cx="105156" cy="105156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3765041" y="2912364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3897629" y="2912364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3367277" y="3044952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3499865" y="3044952"/>
            <a:ext cx="105156" cy="105156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3632453" y="3044952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3765041" y="3044952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3897629" y="3044952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3367277" y="3177540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3499865" y="3177540"/>
            <a:ext cx="105156" cy="105156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3632453" y="3177540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3765041" y="3177540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3897629" y="3177540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3367277" y="3310128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3499865" y="3310128"/>
            <a:ext cx="105156" cy="105156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3632453" y="3310128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3765041" y="3310128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3897629" y="3310128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3367277" y="3442716"/>
            <a:ext cx="105156" cy="105156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3499865" y="3442716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3632453" y="3442716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3765041" y="3442716"/>
            <a:ext cx="105156" cy="10515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897629" y="3442716"/>
            <a:ext cx="105156" cy="105156"/>
          </a:xfrm>
          <a:prstGeom prst="rect">
            <a:avLst/>
          </a:prstGeom>
          <a:solidFill>
            <a:srgbClr val="C9CCE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999232" y="3639311"/>
            <a:ext cx="13716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202020"/>
                </a:solidFill>
                <a:latin typeface="Times New Roman"/>
              </a:rPr>
              <a:t>attention </a:t>
            </a:r>
            <a:r>
              <a:rPr sz="800" b="0" i="1">
                <a:solidFill>
                  <a:srgbClr val="202020"/>
                </a:solidFill>
                <a:latin typeface="Times New Roman"/>
              </a:rPr>
              <a:t>w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i,t</a:t>
            </a:r>
            <a:r>
              <a:rPr sz="650" b="0" i="0">
                <a:solidFill>
                  <a:srgbClr val="666666"/>
                </a:solidFill>
                <a:latin typeface="Times New Roman"/>
              </a:rPr>
              <a:t>  (6×6)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390137" y="3822191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390137" y="3945635"/>
            <a:ext cx="96012" cy="96012"/>
          </a:xfrm>
          <a:prstGeom prst="rect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3513581" y="3945635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3390137" y="4069079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3513581" y="4069079"/>
            <a:ext cx="96012" cy="96012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3637025" y="4069079"/>
            <a:ext cx="96012" cy="96012"/>
          </a:xfrm>
          <a:prstGeom prst="rect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3390137" y="4192524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3513581" y="4192524"/>
            <a:ext cx="96012" cy="96012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3637025" y="4192524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3760470" y="4192524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3390137" y="4315968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3513581" y="4315968"/>
            <a:ext cx="96012" cy="96012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3637025" y="4315968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3760470" y="4315968"/>
            <a:ext cx="96012" cy="96012"/>
          </a:xfrm>
          <a:prstGeom prst="rect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3883913" y="4315968"/>
            <a:ext cx="96012" cy="96012"/>
          </a:xfrm>
          <a:prstGeom prst="rect">
            <a:avLst/>
          </a:prstGeom>
          <a:solidFill>
            <a:srgbClr val="FAD9C4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6" name="Right Arrow 255"/>
          <p:cNvSpPr/>
          <p:nvPr/>
        </p:nvSpPr>
        <p:spPr>
          <a:xfrm>
            <a:off x="4462272" y="3438144"/>
            <a:ext cx="256032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4791456" y="2542032"/>
            <a:ext cx="1920240" cy="1975104"/>
          </a:xfrm>
          <a:prstGeom prst="rect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791456" y="259689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02020"/>
                </a:solidFill>
                <a:latin typeface="Times New Roman"/>
              </a:rPr>
              <a:t>Spectral base score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791456" y="280720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202020"/>
                </a:solidFill>
                <a:latin typeface="Times New Roman"/>
              </a:rPr>
              <a:t>S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(s</a:t>
            </a:r>
            <a:r>
              <a:rPr sz="800" b="0" i="1" baseline="-25000">
                <a:solidFill>
                  <a:srgbClr val="202020"/>
                </a:solidFill>
                <a:latin typeface="Times New Roman"/>
              </a:rPr>
              <a:t>t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) = 1 / ( π</a:t>
            </a:r>
            <a:r>
              <a:rPr sz="800" b="0" i="1" baseline="-25000">
                <a:solidFill>
                  <a:srgbClr val="202020"/>
                </a:solidFill>
                <a:latin typeface="Times New Roman"/>
              </a:rPr>
              <a:t>𝒞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(v</a:t>
            </a:r>
            <a:r>
              <a:rPr sz="800" b="0" i="1" baseline="-25000">
                <a:solidFill>
                  <a:srgbClr val="202020"/>
                </a:solidFill>
                <a:latin typeface="Times New Roman"/>
              </a:rPr>
              <a:t>t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) + ε )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4892040" y="3035808"/>
            <a:ext cx="1719072" cy="192024"/>
          </a:xfrm>
          <a:prstGeom prst="roundRect">
            <a:avLst>
              <a:gd name="adj" fmla="val 30000"/>
            </a:avLst>
          </a:prstGeom>
          <a:solidFill>
            <a:srgbClr val="FFF8F2"/>
          </a:solidFill>
          <a:ln w="11430">
            <a:solidFill>
              <a:srgbClr val="D96C2E"/>
            </a:solidFill>
            <a:prstDash val="dash"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4892040" y="3067811"/>
            <a:ext cx="171907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D96C2E"/>
                </a:solidFill>
                <a:latin typeface="Times New Roman"/>
              </a:rPr>
              <a:t>uses band </a:t>
            </a:r>
            <a:r>
              <a:rPr sz="750" b="0" i="1">
                <a:solidFill>
                  <a:srgbClr val="D96C2E"/>
                </a:solidFill>
                <a:latin typeface="Times New Roman"/>
              </a:rPr>
              <a:t>𝒞</a:t>
            </a:r>
            <a:r>
              <a:rPr sz="700" b="0" i="0">
                <a:solidFill>
                  <a:srgbClr val="D96C2E"/>
                </a:solidFill>
                <a:latin typeface="Times New Roman"/>
              </a:rPr>
              <a:t> from the Fitting Stage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4974336" y="3833164"/>
            <a:ext cx="200578" cy="208483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5245116" y="3763670"/>
            <a:ext cx="200578" cy="277977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5515896" y="3624681"/>
            <a:ext cx="200578" cy="416966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5786677" y="3708074"/>
            <a:ext cx="200578" cy="333573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057457" y="3430097"/>
            <a:ext cx="200578" cy="611550"/>
          </a:xfrm>
          <a:prstGeom prst="rect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6328237" y="3569086"/>
            <a:ext cx="200578" cy="472561"/>
          </a:xfrm>
          <a:prstGeom prst="rect">
            <a:avLst/>
          </a:prstGeom>
          <a:solidFill>
            <a:srgbClr val="8B90C6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4937760" y="4041648"/>
            <a:ext cx="1627632" cy="0"/>
          </a:xfrm>
          <a:prstGeom prst="line">
            <a:avLst/>
          </a:prstGeom>
          <a:ln w="11430">
            <a:solidFill>
              <a:srgbClr val="AAAAAA"/>
            </a:solidFill>
          </a:ln>
          <a:effectLst/>
        </p:spPr>
      </p:cxnSp>
      <p:sp>
        <p:nvSpPr>
          <p:cNvPr id="269" name="Rectangle 268"/>
          <p:cNvSpPr/>
          <p:nvPr/>
        </p:nvSpPr>
        <p:spPr>
          <a:xfrm>
            <a:off x="5493036" y="3601821"/>
            <a:ext cx="246298" cy="462686"/>
          </a:xfrm>
          <a:prstGeom prst="rect">
            <a:avLst/>
          </a:prstGeom>
          <a:noFill/>
          <a:ln w="12700">
            <a:solidFill>
              <a:srgbClr val="D96C2E"/>
            </a:solidFill>
            <a:prstDash val="dash"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270" name="Connector 269"/>
          <p:cNvCxnSpPr/>
          <p:nvPr/>
        </p:nvCxnSpPr>
        <p:spPr>
          <a:xfrm>
            <a:off x="5616185" y="3346703"/>
            <a:ext cx="0" cy="694945"/>
          </a:xfrm>
          <a:prstGeom prst="line">
            <a:avLst/>
          </a:prstGeom>
          <a:ln w="11430">
            <a:solidFill>
              <a:srgbClr val="202020"/>
            </a:solidFill>
            <a:prstDash val="dash"/>
          </a:ln>
          <a:effectLst/>
        </p:spPr>
      </p:cxnSp>
      <p:sp>
        <p:nvSpPr>
          <p:cNvPr id="271" name="TextBox 270"/>
          <p:cNvSpPr txBox="1"/>
          <p:nvPr/>
        </p:nvSpPr>
        <p:spPr>
          <a:xfrm>
            <a:off x="5213849" y="3287268"/>
            <a:ext cx="3291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1">
                <a:solidFill>
                  <a:srgbClr val="202020"/>
                </a:solidFill>
                <a:latin typeface="Times New Roman"/>
              </a:rPr>
              <a:t>t</a:t>
            </a:r>
            <a:r>
              <a:rPr sz="700" b="0" i="0" baseline="30000">
                <a:solidFill>
                  <a:srgbClr val="202020"/>
                </a:solidFill>
                <a:latin typeface="Times New Roman"/>
              </a:rPr>
              <a:t>*</a:t>
            </a:r>
          </a:p>
        </p:txBody>
      </p:sp>
      <p:sp>
        <p:nvSpPr>
          <p:cNvPr id="272" name="Oval 271"/>
          <p:cNvSpPr/>
          <p:nvPr/>
        </p:nvSpPr>
        <p:spPr>
          <a:xfrm>
            <a:off x="6112026" y="3302081"/>
            <a:ext cx="91440" cy="91440"/>
          </a:xfrm>
          <a:prstGeom prst="ellipse">
            <a:avLst/>
          </a:prstGeom>
          <a:solidFill>
            <a:srgbClr val="5A5F9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4791456" y="4123944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1">
                <a:solidFill>
                  <a:srgbClr val="666666"/>
                </a:solidFill>
                <a:latin typeface="Times New Roman"/>
              </a:rPr>
              <a:t>later steps condition on the corrupted</a:t>
            </a:r>
          </a:p>
          <a:p>
            <a:pPr algn="ctr"/>
            <a:r>
              <a:rPr sz="700" b="0" i="1">
                <a:solidFill>
                  <a:srgbClr val="666666"/>
                </a:solidFill>
                <a:latin typeface="Times New Roman"/>
              </a:rPr>
              <a:t>context — the argmax drifts past </a:t>
            </a:r>
            <a:r>
              <a:rPr sz="700" b="0" i="1">
                <a:solidFill>
                  <a:srgbClr val="666666"/>
                </a:solidFill>
                <a:latin typeface="Times New Roman"/>
              </a:rPr>
              <a:t>t</a:t>
            </a:r>
            <a:r>
              <a:rPr sz="550" b="0" i="0" baseline="30000">
                <a:solidFill>
                  <a:srgbClr val="666666"/>
                </a:solidFill>
                <a:latin typeface="Times New Roman"/>
              </a:rPr>
              <a:t>*</a:t>
            </a:r>
          </a:p>
        </p:txBody>
      </p:sp>
      <p:sp>
        <p:nvSpPr>
          <p:cNvPr id="274" name="Right Arrow 273"/>
          <p:cNvSpPr/>
          <p:nvPr/>
        </p:nvSpPr>
        <p:spPr>
          <a:xfrm>
            <a:off x="6784848" y="3438144"/>
            <a:ext cx="256032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7114032" y="2542032"/>
            <a:ext cx="2633472" cy="1975104"/>
          </a:xfrm>
          <a:prstGeom prst="rect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7114032" y="2596896"/>
            <a:ext cx="263347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02020"/>
                </a:solidFill>
                <a:latin typeface="Times New Roman"/>
              </a:rPr>
              <a:t>Attention-guided rescoring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7114032" y="2798063"/>
            <a:ext cx="26334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Times New Roman"/>
              </a:rPr>
              <a:t>every step collects blame from all later steps (shown for </a:t>
            </a:r>
            <a:r>
              <a:rPr sz="750" b="0" i="1">
                <a:solidFill>
                  <a:srgbClr val="666666"/>
                </a:solidFill>
                <a:latin typeface="Times New Roman"/>
              </a:rPr>
              <a:t>s</a:t>
            </a:r>
            <a:r>
              <a:rPr sz="650" b="0" i="1" baseline="-25000">
                <a:solidFill>
                  <a:srgbClr val="666666"/>
                </a:solidFill>
                <a:latin typeface="Times New Roman"/>
              </a:rPr>
              <a:t>3</a:t>
            </a:r>
            <a:r>
              <a:rPr sz="750" b="0" i="1">
                <a:solidFill>
                  <a:srgbClr val="666666"/>
                </a:solidFill>
                <a:latin typeface="Times New Roman"/>
              </a:rPr>
              <a:t>)</a:t>
            </a:r>
          </a:p>
        </p:txBody>
      </p:sp>
      <p:sp>
        <p:nvSpPr>
          <p:cNvPr id="278" name="Arc 277"/>
          <p:cNvSpPr/>
          <p:nvPr/>
        </p:nvSpPr>
        <p:spPr>
          <a:xfrm>
            <a:off x="8170164" y="3076956"/>
            <a:ext cx="1339595" cy="548640"/>
          </a:xfrm>
          <a:prstGeom prst="arc">
            <a:avLst>
              <a:gd name="adj1" fmla="val 10800000"/>
              <a:gd name="adj2" fmla="val 21600000"/>
            </a:avLst>
          </a:prstGeom>
          <a:noFill/>
          <a:ln w="24130">
            <a:solidFill>
              <a:srgbClr val="F6CBAC"/>
            </a:solidFill>
            <a:head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Arc 278"/>
          <p:cNvSpPr/>
          <p:nvPr/>
        </p:nvSpPr>
        <p:spPr>
          <a:xfrm>
            <a:off x="8211312" y="3143707"/>
            <a:ext cx="868679" cy="402336"/>
          </a:xfrm>
          <a:prstGeom prst="arc">
            <a:avLst>
              <a:gd name="adj1" fmla="val 10800000"/>
              <a:gd name="adj2" fmla="val 21600000"/>
            </a:avLst>
          </a:prstGeom>
          <a:noFill/>
          <a:ln w="24130">
            <a:solidFill>
              <a:srgbClr val="EE9960"/>
            </a:solidFill>
            <a:head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Arc 279"/>
          <p:cNvSpPr/>
          <p:nvPr/>
        </p:nvSpPr>
        <p:spPr>
          <a:xfrm>
            <a:off x="8252460" y="3210458"/>
            <a:ext cx="397764" cy="256032"/>
          </a:xfrm>
          <a:prstGeom prst="arc">
            <a:avLst>
              <a:gd name="adj1" fmla="val 10800000"/>
              <a:gd name="adj2" fmla="val 21600000"/>
            </a:avLst>
          </a:prstGeom>
          <a:noFill/>
          <a:ln w="24130">
            <a:solidFill>
              <a:srgbClr val="B84A10"/>
            </a:solidFill>
            <a:head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7283196" y="3342132"/>
            <a:ext cx="155448" cy="15544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7269480" y="3520439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1">
                <a:solidFill>
                  <a:srgbClr val="666666"/>
                </a:solidFill>
                <a:latin typeface="Times New Roman"/>
              </a:rPr>
              <a:t>s</a:t>
            </a:r>
            <a:r>
              <a:rPr sz="550" b="0" i="1" baseline="-25000">
                <a:solidFill>
                  <a:srgbClr val="666666"/>
                </a:solidFill>
                <a:latin typeface="Times New Roman"/>
              </a:rPr>
              <a:t>1</a:t>
            </a:r>
          </a:p>
        </p:txBody>
      </p:sp>
      <p:sp>
        <p:nvSpPr>
          <p:cNvPr id="283" name="Oval 282"/>
          <p:cNvSpPr/>
          <p:nvPr/>
        </p:nvSpPr>
        <p:spPr>
          <a:xfrm>
            <a:off x="7712964" y="3342132"/>
            <a:ext cx="155448" cy="15544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699248" y="3520439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1">
                <a:solidFill>
                  <a:srgbClr val="666666"/>
                </a:solidFill>
                <a:latin typeface="Times New Roman"/>
              </a:rPr>
              <a:t>s</a:t>
            </a:r>
            <a:r>
              <a:rPr sz="550" b="0" i="1" baseline="-25000">
                <a:solidFill>
                  <a:srgbClr val="666666"/>
                </a:solidFill>
                <a:latin typeface="Times New Roman"/>
              </a:rPr>
              <a:t>2</a:t>
            </a:r>
          </a:p>
        </p:txBody>
      </p:sp>
      <p:sp>
        <p:nvSpPr>
          <p:cNvPr id="285" name="Oval 284"/>
          <p:cNvSpPr/>
          <p:nvPr/>
        </p:nvSpPr>
        <p:spPr>
          <a:xfrm>
            <a:off x="8142731" y="3342132"/>
            <a:ext cx="155448" cy="155448"/>
          </a:xfrm>
          <a:prstGeom prst="ellipse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8129016" y="3520439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1">
                <a:solidFill>
                  <a:srgbClr val="666666"/>
                </a:solidFill>
                <a:latin typeface="Times New Roman"/>
              </a:rPr>
              <a:t>s</a:t>
            </a:r>
            <a:r>
              <a:rPr sz="550" b="0" i="1" baseline="-25000">
                <a:solidFill>
                  <a:srgbClr val="666666"/>
                </a:solidFill>
                <a:latin typeface="Times New Roman"/>
              </a:rPr>
              <a:t>3</a:t>
            </a:r>
          </a:p>
        </p:txBody>
      </p:sp>
      <p:sp>
        <p:nvSpPr>
          <p:cNvPr id="287" name="Oval 286"/>
          <p:cNvSpPr/>
          <p:nvPr/>
        </p:nvSpPr>
        <p:spPr>
          <a:xfrm>
            <a:off x="8572500" y="3342132"/>
            <a:ext cx="155448" cy="15544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8558784" y="3520439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1">
                <a:solidFill>
                  <a:srgbClr val="666666"/>
                </a:solidFill>
                <a:latin typeface="Times New Roman"/>
              </a:rPr>
              <a:t>s</a:t>
            </a:r>
            <a:r>
              <a:rPr sz="550" b="0" i="1" baseline="-25000">
                <a:solidFill>
                  <a:srgbClr val="666666"/>
                </a:solidFill>
                <a:latin typeface="Times New Roman"/>
              </a:rPr>
              <a:t>4</a:t>
            </a:r>
          </a:p>
        </p:txBody>
      </p:sp>
      <p:sp>
        <p:nvSpPr>
          <p:cNvPr id="289" name="Oval 288"/>
          <p:cNvSpPr/>
          <p:nvPr/>
        </p:nvSpPr>
        <p:spPr>
          <a:xfrm>
            <a:off x="9002267" y="3342132"/>
            <a:ext cx="155448" cy="15544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8988552" y="3520439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1">
                <a:solidFill>
                  <a:srgbClr val="666666"/>
                </a:solidFill>
                <a:latin typeface="Times New Roman"/>
              </a:rPr>
              <a:t>s</a:t>
            </a:r>
            <a:r>
              <a:rPr sz="550" b="0" i="1" baseline="-25000">
                <a:solidFill>
                  <a:srgbClr val="666666"/>
                </a:solidFill>
                <a:latin typeface="Times New Roman"/>
              </a:rPr>
              <a:t>5</a:t>
            </a:r>
          </a:p>
        </p:txBody>
      </p:sp>
      <p:sp>
        <p:nvSpPr>
          <p:cNvPr id="291" name="Oval 290"/>
          <p:cNvSpPr/>
          <p:nvPr/>
        </p:nvSpPr>
        <p:spPr>
          <a:xfrm>
            <a:off x="9432036" y="3342132"/>
            <a:ext cx="155448" cy="15544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9418320" y="3520439"/>
            <a:ext cx="18288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1">
                <a:solidFill>
                  <a:srgbClr val="666666"/>
                </a:solidFill>
                <a:latin typeface="Times New Roman"/>
              </a:rPr>
              <a:t>s</a:t>
            </a:r>
            <a:r>
              <a:rPr sz="550" b="0" i="1" baseline="-25000">
                <a:solidFill>
                  <a:srgbClr val="666666"/>
                </a:solidFill>
                <a:latin typeface="Times New Roman"/>
              </a:rPr>
              <a:t>6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114032" y="3730752"/>
            <a:ext cx="26334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202020"/>
                </a:solidFill>
                <a:latin typeface="Times New Roman"/>
              </a:rPr>
              <a:t>S̃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(s</a:t>
            </a:r>
            <a:r>
              <a:rPr sz="800" b="0" i="1" baseline="-25000">
                <a:solidFill>
                  <a:srgbClr val="202020"/>
                </a:solidFill>
                <a:latin typeface="Times New Roman"/>
              </a:rPr>
              <a:t>i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) = S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(s</a:t>
            </a:r>
            <a:r>
              <a:rPr sz="800" b="0" i="1" baseline="-25000">
                <a:solidFill>
                  <a:srgbClr val="202020"/>
                </a:solidFill>
                <a:latin typeface="Times New Roman"/>
              </a:rPr>
              <a:t>i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) + γ · Σ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t&gt;i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 w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i,t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 S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(s</a:t>
            </a:r>
            <a:r>
              <a:rPr sz="800" b="0" i="1" baseline="-25000">
                <a:solidFill>
                  <a:srgbClr val="202020"/>
                </a:solidFill>
                <a:latin typeface="Times New Roman"/>
              </a:rPr>
              <a:t>t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) / Σ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t&gt;i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 w</a:t>
            </a:r>
            <a:r>
              <a:rPr sz="700" b="0" i="1" baseline="-25000">
                <a:solidFill>
                  <a:srgbClr val="202020"/>
                </a:solidFill>
                <a:latin typeface="Times New Roman"/>
              </a:rPr>
              <a:t>i,t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114032" y="4041648"/>
            <a:ext cx="26334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1">
                <a:solidFill>
                  <a:srgbClr val="666666"/>
                </a:solidFill>
                <a:latin typeface="Times New Roman"/>
              </a:rPr>
              <a:t>darker arrow = larger </a:t>
            </a:r>
            <a:r>
              <a:rPr sz="700" b="0" i="1">
                <a:solidFill>
                  <a:srgbClr val="666666"/>
                </a:solidFill>
                <a:latin typeface="Times New Roman"/>
              </a:rPr>
              <a:t>w</a:t>
            </a:r>
            <a:r>
              <a:rPr sz="600" b="0" i="1" baseline="-25000">
                <a:solidFill>
                  <a:srgbClr val="666666"/>
                </a:solidFill>
                <a:latin typeface="Times New Roman"/>
              </a:rPr>
              <a:t>i,t</a:t>
            </a:r>
            <a:r>
              <a:rPr sz="700" b="0" i="1">
                <a:solidFill>
                  <a:srgbClr val="666666"/>
                </a:solidFill>
                <a:latin typeface="Times New Roman"/>
              </a:rPr>
              <a:t> ;  one pass over the original </a:t>
            </a:r>
            <a:r>
              <a:rPr sz="700" b="0" i="1">
                <a:solidFill>
                  <a:srgbClr val="666666"/>
                </a:solidFill>
                <a:latin typeface="Times New Roman"/>
              </a:rPr>
              <a:t>S</a:t>
            </a:r>
          </a:p>
          <a:p>
            <a:pPr algn="ctr"/>
            <a:r>
              <a:rPr sz="700" b="0" i="1">
                <a:solidFill>
                  <a:srgbClr val="666666"/>
                </a:solidFill>
                <a:latin typeface="Times New Roman"/>
              </a:rPr>
              <a:t>hub-normalized: popular steps absorb no extra blame</a:t>
            </a:r>
          </a:p>
        </p:txBody>
      </p:sp>
      <p:sp>
        <p:nvSpPr>
          <p:cNvPr id="295" name="Right Arrow 294"/>
          <p:cNvSpPr/>
          <p:nvPr/>
        </p:nvSpPr>
        <p:spPr>
          <a:xfrm>
            <a:off x="9802368" y="3438144"/>
            <a:ext cx="256032" cy="182880"/>
          </a:xfrm>
          <a:prstGeom prst="rightArrow">
            <a:avLst>
              <a:gd name="adj1" fmla="val 60000"/>
              <a:gd name="adj2" fmla="val 55000"/>
            </a:avLst>
          </a:prstGeom>
          <a:solidFill>
            <a:srgbClr val="D2D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94976" y="2542032"/>
            <a:ext cx="1920240" cy="1975104"/>
          </a:xfrm>
          <a:prstGeom prst="rect">
            <a:avLst/>
          </a:prstGeom>
          <a:solidFill>
            <a:srgbClr val="FFFFFF"/>
          </a:solidFill>
          <a:ln w="11430">
            <a:solidFill>
              <a:srgbClr val="AAAAAA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10094976" y="2596896"/>
            <a:ext cx="1920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02020"/>
                </a:solidFill>
                <a:latin typeface="Times New Roman"/>
              </a:rPr>
              <a:t>Prediction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94976" y="2807208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202020"/>
                </a:solidFill>
                <a:latin typeface="Times New Roman"/>
              </a:rPr>
              <a:t>t̂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 = argmax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 S̃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(s</a:t>
            </a:r>
            <a:r>
              <a:rPr sz="800" b="0" i="1" baseline="-25000">
                <a:solidFill>
                  <a:srgbClr val="202020"/>
                </a:solidFill>
                <a:latin typeface="Times New Roman"/>
              </a:rPr>
              <a:t>i</a:t>
            </a:r>
            <a:r>
              <a:rPr sz="1000" b="0" i="1">
                <a:solidFill>
                  <a:srgbClr val="202020"/>
                </a:solidFill>
                <a:latin typeface="Times New Roman"/>
              </a:rPr>
              <a:t>)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10195560" y="3035808"/>
            <a:ext cx="1719072" cy="192024"/>
          </a:xfrm>
          <a:prstGeom prst="roundRect">
            <a:avLst>
              <a:gd name="adj" fmla="val 30000"/>
            </a:avLst>
          </a:prstGeom>
          <a:solidFill>
            <a:srgbClr val="FFF8F2"/>
          </a:solidFill>
          <a:ln w="11430">
            <a:solidFill>
              <a:srgbClr val="D96C2E"/>
            </a:solidFill>
            <a:prstDash val="dash"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0195560" y="3067811"/>
            <a:ext cx="171907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D96C2E"/>
                </a:solidFill>
                <a:latin typeface="Times New Roman"/>
              </a:rPr>
              <a:t>responsible agent: </a:t>
            </a:r>
            <a:r>
              <a:rPr sz="750" b="0" i="1">
                <a:solidFill>
                  <a:srgbClr val="D96C2E"/>
                </a:solidFill>
                <a:latin typeface="Times New Roman"/>
              </a:rPr>
              <a:t>â</a:t>
            </a:r>
            <a:r>
              <a:rPr sz="700" b="0" i="0">
                <a:solidFill>
                  <a:srgbClr val="D96C2E"/>
                </a:solidFill>
                <a:latin typeface="Times New Roman"/>
              </a:rPr>
              <a:t> = agent(</a:t>
            </a:r>
            <a:r>
              <a:rPr sz="750" b="0" i="1">
                <a:solidFill>
                  <a:srgbClr val="D96C2E"/>
                </a:solidFill>
                <a:latin typeface="Times New Roman"/>
              </a:rPr>
              <a:t>t̂</a:t>
            </a:r>
            <a:r>
              <a:rPr sz="700" b="0" i="0">
                <a:solidFill>
                  <a:srgbClr val="D96C2E"/>
                </a:solidFill>
                <a:latin typeface="Times New Roman"/>
              </a:rPr>
              <a:t>)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10277856" y="3860962"/>
            <a:ext cx="200578" cy="180685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548636" y="3791468"/>
            <a:ext cx="200578" cy="250179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819416" y="3402299"/>
            <a:ext cx="200578" cy="639348"/>
          </a:xfrm>
          <a:prstGeom prst="rect">
            <a:avLst/>
          </a:prstGeom>
          <a:solidFill>
            <a:srgbClr val="D96C2E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1090197" y="3749771"/>
            <a:ext cx="200578" cy="291876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360977" y="3638580"/>
            <a:ext cx="200578" cy="403067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1631757" y="3721973"/>
            <a:ext cx="200578" cy="319674"/>
          </a:xfrm>
          <a:prstGeom prst="rect">
            <a:avLst/>
          </a:prstGeom>
          <a:solidFill>
            <a:srgbClr val="F0A072"/>
          </a:solidFill>
          <a:ln>
            <a:noFill/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>
            <a:off x="10241280" y="4041648"/>
            <a:ext cx="1627632" cy="0"/>
          </a:xfrm>
          <a:prstGeom prst="line">
            <a:avLst/>
          </a:prstGeom>
          <a:ln w="11430">
            <a:solidFill>
              <a:srgbClr val="AAAAAA"/>
            </a:solidFill>
          </a:ln>
          <a:effectLst/>
        </p:spPr>
      </p:cxnSp>
      <p:cxnSp>
        <p:nvCxnSpPr>
          <p:cNvPr id="308" name="Connector 307"/>
          <p:cNvCxnSpPr/>
          <p:nvPr/>
        </p:nvCxnSpPr>
        <p:spPr>
          <a:xfrm>
            <a:off x="10919705" y="3346703"/>
            <a:ext cx="0" cy="694945"/>
          </a:xfrm>
          <a:prstGeom prst="line">
            <a:avLst/>
          </a:prstGeom>
          <a:ln w="11430">
            <a:solidFill>
              <a:srgbClr val="202020"/>
            </a:solidFill>
            <a:prstDash val="dash"/>
          </a:ln>
          <a:effectLst/>
        </p:spPr>
      </p:cxnSp>
      <p:sp>
        <p:nvSpPr>
          <p:cNvPr id="309" name="TextBox 308"/>
          <p:cNvSpPr txBox="1"/>
          <p:nvPr/>
        </p:nvSpPr>
        <p:spPr>
          <a:xfrm>
            <a:off x="10206473" y="3287268"/>
            <a:ext cx="6400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1">
                <a:solidFill>
                  <a:srgbClr val="D96C2E"/>
                </a:solidFill>
                <a:latin typeface="Times New Roman"/>
              </a:rPr>
              <a:t>t̂</a:t>
            </a:r>
            <a:r>
              <a:rPr sz="850" b="0" i="1">
                <a:solidFill>
                  <a:srgbClr val="202020"/>
                </a:solidFill>
                <a:latin typeface="Times New Roman"/>
              </a:rPr>
              <a:t> = t</a:t>
            </a:r>
            <a:r>
              <a:rPr sz="700" b="0" i="0" baseline="30000">
                <a:solidFill>
                  <a:srgbClr val="202020"/>
                </a:solidFill>
                <a:latin typeface="Times New Roman"/>
              </a:rPr>
              <a:t>*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10204704" y="4133087"/>
            <a:ext cx="822960" cy="228600"/>
          </a:xfrm>
          <a:prstGeom prst="roundRect">
            <a:avLst>
              <a:gd name="adj" fmla="val 30000"/>
            </a:avLst>
          </a:prstGeom>
          <a:solidFill>
            <a:srgbClr val="FAD9C4"/>
          </a:solidFill>
          <a:ln w="9525">
            <a:solidFill>
              <a:srgbClr val="D96C2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10204704" y="4174235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202020"/>
                </a:solidFill>
                <a:latin typeface="Times New Roman"/>
              </a:rPr>
              <a:t>t̂</a:t>
            </a:r>
            <a:r>
              <a:rPr sz="750" b="1" i="1">
                <a:solidFill>
                  <a:srgbClr val="202020"/>
                </a:solidFill>
                <a:latin typeface="Times New Roman"/>
              </a:rPr>
              <a:t> = s</a:t>
            </a:r>
            <a:r>
              <a:rPr sz="650" b="1" i="1" baseline="-25000">
                <a:solidFill>
                  <a:srgbClr val="202020"/>
                </a:solidFill>
                <a:latin typeface="Times New Roman"/>
              </a:rPr>
              <a:t>3</a:t>
            </a:r>
          </a:p>
        </p:txBody>
      </p:sp>
      <p:sp>
        <p:nvSpPr>
          <p:cNvPr id="312" name="Rounded Rectangle 311"/>
          <p:cNvSpPr/>
          <p:nvPr/>
        </p:nvSpPr>
        <p:spPr>
          <a:xfrm>
            <a:off x="11082528" y="4133087"/>
            <a:ext cx="822960" cy="228600"/>
          </a:xfrm>
          <a:prstGeom prst="roundRect">
            <a:avLst>
              <a:gd name="adj" fmla="val 30000"/>
            </a:avLst>
          </a:prstGeom>
          <a:solidFill>
            <a:srgbClr val="ADC6E3"/>
          </a:solidFill>
          <a:ln w="9525">
            <a:solidFill>
              <a:srgbClr val="3E648E"/>
            </a:solidFill>
          </a:ln>
          <a:effectLst/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11082528" y="4174235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 i="1">
                <a:solidFill>
                  <a:srgbClr val="202020"/>
                </a:solidFill>
                <a:latin typeface="Times New Roman"/>
              </a:rPr>
              <a:t>â</a:t>
            </a:r>
            <a:r>
              <a:rPr sz="750" b="1" i="0">
                <a:solidFill>
                  <a:srgbClr val="3E648E"/>
                </a:solidFill>
                <a:latin typeface="Times New Roman"/>
              </a:rPr>
              <a:t> = Agent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